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263140"/>
            <a:ext cx="10820095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400" b="1">
                <a:solidFill>
                  <a:srgbClr val="1A1F36"/>
                </a:solidFill>
                <a:latin typeface="Noto Serif KR"/>
              </a:defRPr>
            </a:pPr>
            <a:r>
              <a:t>Ralphton 해커톤 회고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977639"/>
            <a:ext cx="108200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0">
                <a:solidFill>
                  <a:srgbClr val="5C6478"/>
                </a:solidFill>
                <a:latin typeface="Pretendard"/>
              </a:defRPr>
            </a:pPr>
            <a:r>
              <a:t>5개 AI 에이전트가 21시간 동안 자율 협업한 Physical AI 파이프라인 실험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829300"/>
            <a:ext cx="108200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5C6478"/>
                </a:solidFill>
                <a:latin typeface="Pretendard"/>
              </a:defRPr>
            </a:pPr>
            <a:r>
              <a:t>WoRV AI  |  2026.03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606040"/>
            <a:ext cx="108200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5C6478"/>
                </a:solidFill>
                <a:latin typeface="Pretendard"/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086100"/>
            <a:ext cx="1082009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F8F9FC"/>
                </a:solidFill>
                <a:latin typeface="Noto Serif KR"/>
              </a:defRPr>
            </a:pPr>
            <a:r>
              <a:t>D2E — AI가 게임을 만들고</a:t>
            </a:r>
            <a:br/>
            <a:r>
              <a:t>게임이 AI를 가르친다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42900"/>
            <a:ext cx="108200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0">
                <a:solidFill>
                  <a:srgbClr val="111111"/>
                </a:solidFill>
                <a:latin typeface="Pretendard"/>
              </a:defRPr>
            </a:pPr>
            <a:r>
              <a:t>Three.js 시뮬레이터에서 Expert Agent가 레고를 수거하는 시범을 보여주고, 그 데이터로 ACT 모델을 학습시킵니다.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48740"/>
            <a:ext cx="10820095" cy="18288"/>
          </a:xfrm>
          <a:prstGeom prst="rect">
            <a:avLst/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31620"/>
            <a:ext cx="108200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5C6478"/>
                </a:solidFill>
                <a:latin typeface="Noto Serif KR"/>
              </a:defRPr>
            </a:pPr>
            <a:r>
              <a:t>D2E (Desktop to Embodied AI)</a:t>
            </a:r>
          </a:p>
        </p:txBody>
      </p:sp>
      <p:pic>
        <p:nvPicPr>
          <p:cNvPr id="6" name="Picture 5" descr="simulator_dem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354580"/>
            <a:ext cx="5181447" cy="335315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24447" y="2354580"/>
            <a:ext cx="5181447" cy="35433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A1F36"/>
                </a:solidFill>
                <a:latin typeface="Pretendard"/>
              </a:defRPr>
            </a:pPr>
            <a:r>
              <a:t>Three.js + cannon-es 물리엔진 기반</a:t>
            </a:r>
            <a:br/>
            <a:r>
              <a:t>로더 액션: steering, throttle, bucket, lift</a:t>
            </a:r>
            <a:br/>
            <a:r>
              <a:t>Expert Agent 7개 상태 머신</a:t>
            </a:r>
            <a:br/>
            <a:r>
              <a:t>ego/birds_eye/follow 3시점 녹화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46520"/>
            <a:ext cx="108200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5C6478"/>
                </a:solidFill>
                <a:latin typeface="Pretendard"/>
              </a:defRPr>
            </a:pPr>
            <a:r>
              <a:t>* ACT: Action Chunking with Transformers  ** D2E: Desktop to Embodied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42900"/>
            <a:ext cx="108200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0">
                <a:solidFill>
                  <a:srgbClr val="111111"/>
                </a:solidFill>
                <a:latin typeface="Pretendard"/>
              </a:defRPr>
            </a:pPr>
            <a:r>
              <a:t>5개 AI 에이전트가 각각 GCP VM에서 Discord를 통해 13시간 넘게 자율 협업했습니다.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48740"/>
            <a:ext cx="10820095" cy="18288"/>
          </a:xfrm>
          <a:prstGeom prst="rect">
            <a:avLst/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31620"/>
            <a:ext cx="108200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5C6478"/>
                </a:solidFill>
                <a:latin typeface="Noto Serif KR"/>
              </a:defRPr>
            </a:pPr>
            <a:r>
              <a:t>5-Agent 멀티 VM 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354580"/>
            <a:ext cx="3423818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A1F36"/>
                </a:solidFill>
                <a:latin typeface="Noto Serif KR"/>
              </a:defRPr>
            </a:pPr>
            <a:r>
              <a:t>지휘 &amp; 감시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903220"/>
            <a:ext cx="3423818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5C6478"/>
                </a:solidFill>
                <a:latin typeface="Pretendard"/>
              </a:defRPr>
            </a:pPr>
            <a:r>
              <a:t>Watcher: 타임라인 관리</a:t>
            </a:r>
            <a:br/>
            <a:r>
              <a:t>CCD Watchdog: 5분 간격 감시</a:t>
            </a:r>
            <a:br/>
            <a:r>
              <a:t>3중 안전장치 (systemd → watchdog → cron)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3938" y="2354580"/>
            <a:ext cx="3423818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A1F36"/>
                </a:solidFill>
                <a:latin typeface="Noto Serif KR"/>
              </a:defRPr>
            </a:pPr>
            <a:r>
              <a:t>개발 &amp; 설계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3938" y="2903220"/>
            <a:ext cx="3423818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5C6478"/>
                </a:solidFill>
                <a:latin typeface="Pretendard"/>
              </a:defRPr>
            </a:pPr>
            <a:r>
              <a:t>Developer: 시뮬레이터 + 데이터</a:t>
            </a:r>
            <a:br/>
            <a:r>
              <a:t>DomainExpert: FMEA 시나리오</a:t>
            </a:r>
            <a:br/>
            <a:r>
              <a:t>32개 고장모드 식별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2076" y="2354580"/>
            <a:ext cx="3423818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A1F36"/>
                </a:solidFill>
                <a:latin typeface="Noto Serif KR"/>
              </a:defRPr>
            </a:pPr>
            <a:r>
              <a:t>학습 &amp; 평가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82076" y="2903220"/>
            <a:ext cx="3423818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5C6478"/>
                </a:solidFill>
                <a:latin typeface="Pretendard"/>
              </a:defRPr>
            </a:pPr>
            <a:r>
              <a:t>Training: A100 GPU 학습</a:t>
            </a:r>
            <a:br/>
            <a:r>
              <a:t>Evaluation: 품질 검증</a:t>
            </a:r>
            <a:br/>
            <a:r>
              <a:t>피드백 루프 생성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606040"/>
            <a:ext cx="108200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5C6478"/>
                </a:solidFill>
                <a:latin typeface="Pretendard"/>
              </a:defRPr>
            </a:pPr>
            <a:r>
              <a:t>SIMULATOR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086100"/>
            <a:ext cx="1082009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F8F9FC"/>
                </a:solidFill>
                <a:latin typeface="Noto Serif KR"/>
              </a:defRPr>
            </a:pPr>
            <a:r>
              <a:t>시뮬레이터 시연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42900"/>
            <a:ext cx="108200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0">
                <a:solidFill>
                  <a:srgbClr val="111111"/>
                </a:solidFill>
                <a:latin typeface="Pretendard"/>
              </a:defRPr>
            </a:pPr>
            <a:r>
              <a:t>ACT 모델은 이 1인칭 카메라 영상만 보고 로더를 조종하는 법을 학습합니다.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48740"/>
            <a:ext cx="10820095" cy="18288"/>
          </a:xfrm>
          <a:prstGeom prst="rect">
            <a:avLst/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31620"/>
            <a:ext cx="108200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5C6478"/>
                </a:solidFill>
                <a:latin typeface="Noto Serif KR"/>
              </a:defRPr>
            </a:pPr>
            <a:r>
              <a:t>Expert Agent — ego 카메라 뷰</a:t>
            </a:r>
          </a:p>
        </p:txBody>
      </p:sp>
      <p:pic>
        <p:nvPicPr>
          <p:cNvPr id="6" name="Picture 5" descr="debug_fram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354580"/>
            <a:ext cx="4724399" cy="35433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24447" y="2354580"/>
            <a:ext cx="5181447" cy="35433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A1F36"/>
                </a:solidFill>
                <a:latin typeface="Pretendard"/>
              </a:defRPr>
            </a:pPr>
            <a:r>
              <a:t>640x480 → 224x224 리사이즈</a:t>
            </a:r>
            <a:br/>
            <a:r>
              <a:t>4D 연속 액션: steering, throttle, bucket, lift</a:t>
            </a:r>
            <a:br/>
            <a:r>
              <a:t>30Hz 캡처, 학습 시 10Hz 사용</a:t>
            </a:r>
            <a:br/>
            <a:r>
              <a:t>chunk_size 20 (0.67초 예측)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42900"/>
            <a:ext cx="108200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0">
                <a:solidFill>
                  <a:srgbClr val="111111"/>
                </a:solidFill>
                <a:latin typeface="Pretendard"/>
              </a:defRPr>
            </a:pPr>
            <a:r>
              <a:t>노란색 로더가 방 안에 흩어진 레고 블록을 수거하여 파란색 박스에 넣는 것이 목표입니다.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48740"/>
            <a:ext cx="10820095" cy="18288"/>
          </a:xfrm>
          <a:prstGeom prst="rect">
            <a:avLst/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31620"/>
            <a:ext cx="108200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5C6478"/>
                </a:solidFill>
                <a:latin typeface="Noto Serif KR"/>
              </a:defRPr>
            </a:pPr>
            <a:r>
              <a:t>시뮬레이터 전경 — 로더와 레고</a:t>
            </a:r>
          </a:p>
        </p:txBody>
      </p:sp>
      <p:pic>
        <p:nvPicPr>
          <p:cNvPr id="6" name="Picture 5" descr="simulator_demo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354580"/>
            <a:ext cx="5181447" cy="335315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24447" y="2354580"/>
            <a:ext cx="5181447" cy="35433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A1F36"/>
                </a:solidFill>
                <a:latin typeface="Pretendard"/>
              </a:defRPr>
            </a:pPr>
            <a:r>
              <a:t>Three.js + cannon-es 물리 시뮬레이션</a:t>
            </a:r>
            <a:br/>
            <a:r>
              <a:t>다양한 색상/크기의 레고 블록 배치</a:t>
            </a:r>
            <a:br/>
            <a:r>
              <a:t>가구, 벽 등 장애물 포함</a:t>
            </a:r>
            <a:br/>
            <a:r>
              <a:t>실시간 충돌 감지 및 물리 반응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42900"/>
            <a:ext cx="108200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0">
                <a:solidFill>
                  <a:srgbClr val="111111"/>
                </a:solidFill>
                <a:latin typeface="Pretendard"/>
              </a:defRPr>
            </a:pPr>
            <a:r>
              <a:t>학습 데이터의 다양성을 위해 레고 위치, 수량, 색상을 매번 랜덤으로 변경합니다.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48740"/>
            <a:ext cx="10820095" cy="18288"/>
          </a:xfrm>
          <a:prstGeom prst="rect">
            <a:avLst/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31620"/>
            <a:ext cx="108200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5C6478"/>
                </a:solidFill>
                <a:latin typeface="Noto Serif KR"/>
              </a:defRPr>
            </a:pPr>
            <a:r>
              <a:t>조감도 — 다양한 레고 분포</a:t>
            </a:r>
          </a:p>
        </p:txBody>
      </p:sp>
      <p:pic>
        <p:nvPicPr>
          <p:cNvPr id="6" name="Picture 5" descr="evolution_la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354580"/>
            <a:ext cx="4724399" cy="35433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24447" y="2354580"/>
            <a:ext cx="5181447" cy="35433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A1F36"/>
                </a:solidFill>
                <a:latin typeface="Pretendard"/>
              </a:defRPr>
            </a:pPr>
            <a:r>
              <a:t>Domain Randomization 적용</a:t>
            </a:r>
            <a:br/>
            <a:r>
              <a:t>레고 위치 uniform random</a:t>
            </a:r>
            <a:br/>
            <a:r>
              <a:t>레고 수량 ±30% 변형</a:t>
            </a:r>
            <a:br/>
            <a:r>
              <a:t>로더 시작 위치/방향 랜덤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606040"/>
            <a:ext cx="108200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5C6478"/>
                </a:solidFill>
                <a:latin typeface="Pretendard"/>
              </a:defRPr>
            </a:pPr>
            <a:r>
              <a:t>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086100"/>
            <a:ext cx="1082009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F8F9FC"/>
                </a:solidFill>
                <a:latin typeface="Noto Serif KR"/>
              </a:defRPr>
            </a:pPr>
            <a:r>
              <a:t>학습 파이프라인</a:t>
            </a:r>
            <a:br/>
            <a:r>
              <a:t>데이터 생성 → ACT 학습 → Rollout 평가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42900"/>
            <a:ext cx="108200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0">
                <a:solidFill>
                  <a:srgbClr val="111111"/>
                </a:solidFill>
                <a:latin typeface="Pretendard"/>
              </a:defRPr>
            </a:pPr>
            <a:r>
              <a:t>Phase 1에서 1시간 만에 첫 에피소드를 완성했고, 7/10 레고 수거에 성공했습니다.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48740"/>
            <a:ext cx="10820095" cy="18288"/>
          </a:xfrm>
          <a:prstGeom prst="rect">
            <a:avLst/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31620"/>
            <a:ext cx="108200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5C6478"/>
                </a:solidFill>
                <a:latin typeface="Noto Serif KR"/>
              </a:defRPr>
            </a:pPr>
            <a:r>
              <a:t>v1 Rollout — 첫 에피소드</a:t>
            </a:r>
          </a:p>
        </p:txBody>
      </p:sp>
      <p:pic>
        <p:nvPicPr>
          <p:cNvPr id="6" name="Picture 5" descr="v1_rollou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354580"/>
            <a:ext cx="4724399" cy="35433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24447" y="2354580"/>
            <a:ext cx="5181447" cy="35433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A1F36"/>
                </a:solidFill>
                <a:latin typeface="Pretendard"/>
              </a:defRPr>
            </a:pPr>
            <a:r>
              <a:t>수거 성공률: 70% (7/10 레고)</a:t>
            </a:r>
            <a:br/>
            <a:r>
              <a:t>에피소드 길이: 65초</a:t>
            </a:r>
            <a:br/>
            <a:r>
              <a:t>계획보다 1시간 빠른 완성</a:t>
            </a:r>
            <a:br/>
            <a:r>
              <a:t>bucket 76%, lift 84% zero → 액션 편향 발견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42900"/>
            <a:ext cx="108200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0">
                <a:solidFill>
                  <a:srgbClr val="111111"/>
                </a:solidFill>
                <a:latin typeface="Pretendard"/>
              </a:defRPr>
            </a:pPr>
            <a:r>
              <a:t>오프라인 메트릭은 역대 최저 Loss를 기록하며 수렴했지만, 실제 Rollout에서는 0% 성공률이었습니다.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48740"/>
            <a:ext cx="10820095" cy="18288"/>
          </a:xfrm>
          <a:prstGeom prst="rect">
            <a:avLst/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31620"/>
            <a:ext cx="108200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5C6478"/>
                </a:solidFill>
                <a:latin typeface="Noto Serif KR"/>
              </a:defRPr>
            </a:pPr>
            <a:r>
              <a:t>ACT 500 Epoch 학습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720340"/>
            <a:ext cx="2430703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800" b="1">
                <a:solidFill>
                  <a:srgbClr val="111111"/>
                </a:solidFill>
                <a:latin typeface="Noto Serif KR"/>
              </a:defRPr>
            </a:pPr>
            <a:r>
              <a:t>0.00008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909060"/>
            <a:ext cx="2430703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5C6478"/>
                </a:solidFill>
                <a:latin typeface="Pretendard"/>
              </a:defRPr>
            </a:pPr>
            <a:r>
              <a:t>Best Loss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90823" y="2720340"/>
            <a:ext cx="2430703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800" b="1">
                <a:solidFill>
                  <a:srgbClr val="111111"/>
                </a:solidFill>
                <a:latin typeface="Noto Serif KR"/>
              </a:defRPr>
            </a:pPr>
            <a:r>
              <a:t>0.0059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90823" y="3909060"/>
            <a:ext cx="2430703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5C6478"/>
                </a:solidFill>
                <a:latin typeface="Pretendard"/>
              </a:defRPr>
            </a:pPr>
            <a:r>
              <a:t>MAE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5847" y="2720340"/>
            <a:ext cx="2430703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800" b="1">
                <a:solidFill>
                  <a:srgbClr val="111111"/>
                </a:solidFill>
                <a:latin typeface="Noto Serif KR"/>
              </a:defRPr>
            </a:pPr>
            <a:r>
              <a:t>5h 13m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5847" y="3909060"/>
            <a:ext cx="2430703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5C6478"/>
                </a:solidFill>
                <a:latin typeface="Pretendard"/>
              </a:defRPr>
            </a:pPr>
            <a:r>
              <a:t>학습시간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00871" y="2720340"/>
            <a:ext cx="2430703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800" b="1">
                <a:solidFill>
                  <a:srgbClr val="111111"/>
                </a:solidFill>
                <a:latin typeface="Noto Serif KR"/>
              </a:defRPr>
            </a:pPr>
            <a:r>
              <a:t>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00871" y="3909060"/>
            <a:ext cx="2430703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5C6478"/>
                </a:solidFill>
                <a:latin typeface="Pretendard"/>
              </a:defRPr>
            </a:pPr>
            <a:r>
              <a:t>Rollout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46520"/>
            <a:ext cx="108200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5C6478"/>
                </a:solidFill>
                <a:latin typeface="Pretendard"/>
              </a:defRPr>
            </a:pPr>
            <a:r>
              <a:t>* MAE: Mean Absolute Error  ** Rollout: 학습된 모델이 직접 조종하는 실전 테스트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42900"/>
            <a:ext cx="108200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0">
                <a:solidFill>
                  <a:srgbClr val="111111"/>
                </a:solidFill>
                <a:latin typeface="Pretendard"/>
              </a:defRPr>
            </a:pPr>
            <a:r>
              <a:t>Expert 데이터만으로 학습한 모델은 LIFTING 상태에서 벗어나지 못하는 전형적인 covariate shift를 보였습니다.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48740"/>
            <a:ext cx="10820095" cy="18288"/>
          </a:xfrm>
          <a:prstGeom prst="rect">
            <a:avLst/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31620"/>
            <a:ext cx="108200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5C6478"/>
                </a:solidFill>
                <a:latin typeface="Noto Serif KR"/>
              </a:defRPr>
            </a:pPr>
            <a:r>
              <a:t>v2 Rollout — Expert-only 50ep</a:t>
            </a:r>
          </a:p>
        </p:txBody>
      </p:sp>
      <p:pic>
        <p:nvPicPr>
          <p:cNvPr id="6" name="Picture 5" descr="v2_rollou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354580"/>
            <a:ext cx="4724399" cy="35433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24447" y="2354580"/>
            <a:ext cx="5181447" cy="35433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A1F36"/>
                </a:solidFill>
                <a:latin typeface="Pretendard"/>
              </a:defRPr>
            </a:pPr>
            <a:r>
              <a:t>52개 에피소드 (13 시나리오 x 4)</a:t>
            </a:r>
            <a:br/>
            <a:r>
              <a:t>500 epoch 학습, Loss 0.000080</a:t>
            </a:r>
            <a:br/>
            <a:r>
              <a:t>closed-loop 성공률 0%</a:t>
            </a:r>
            <a:br/>
            <a:r>
              <a:t>원인: error recovery 미학습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46520"/>
            <a:ext cx="108200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5C6478"/>
                </a:solidFill>
                <a:latin typeface="Pretendard"/>
              </a:defRPr>
            </a:pPr>
            <a:r>
              <a:t>* Covariate shift: 학습 시 본 상태와 실전 상태의 불일치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42900"/>
            <a:ext cx="108200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0">
                <a:solidFill>
                  <a:srgbClr val="111111"/>
                </a:solidFill>
                <a:latin typeface="Pretendard"/>
              </a:defRPr>
            </a:pPr>
            <a:r>
              <a:t>실수에서 복구하는 시퀀스 200개를 추가하여 LIFTING 탈출 문제를 해결했습니다.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48740"/>
            <a:ext cx="10820095" cy="18288"/>
          </a:xfrm>
          <a:prstGeom prst="rect">
            <a:avLst/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31620"/>
            <a:ext cx="108200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5C6478"/>
                </a:solidFill>
                <a:latin typeface="Noto Serif KR"/>
              </a:defRPr>
            </a:pPr>
            <a:r>
              <a:t>v3 Stage 1 — Recovery 데이터 추가</a:t>
            </a:r>
          </a:p>
        </p:txBody>
      </p:sp>
      <p:pic>
        <p:nvPicPr>
          <p:cNvPr id="6" name="Picture 5" descr="v3_st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354580"/>
            <a:ext cx="4724399" cy="35433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24447" y="2354580"/>
            <a:ext cx="5181447" cy="35433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A1F36"/>
                </a:solidFill>
                <a:latin typeface="Pretendard"/>
              </a:defRPr>
            </a:pPr>
            <a:r>
              <a:t>200개 recovery 에피소드 생성</a:t>
            </a:r>
            <a:br/>
            <a:r>
              <a:t>320x240/10Hz로 해상도 축소</a:t>
            </a:r>
            <a:br/>
            <a:r>
              <a:t>finetune 100 epoch</a:t>
            </a:r>
            <a:br/>
            <a:r>
              <a:t>LIFTING→TRANSPORTING 전환 성공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42900"/>
            <a:ext cx="108200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0">
                <a:solidFill>
                  <a:srgbClr val="111111"/>
                </a:solidFill>
                <a:latin typeface="Pretendard"/>
              </a:defRPr>
            </a:pPr>
            <a:r>
              <a:t>2nd-stage Ep25에서 LIFTING 탈출에 성공했지만, 벽 근처 WALL_STUCK이라는 새로운 문제가 발생했습니다.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48740"/>
            <a:ext cx="10820095" cy="18288"/>
          </a:xfrm>
          <a:prstGeom prst="rect">
            <a:avLst/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31620"/>
            <a:ext cx="108200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5C6478"/>
                </a:solidFill>
                <a:latin typeface="Noto Serif KR"/>
              </a:defRPr>
            </a:pPr>
            <a:r>
              <a:t>v3 Best — Ep25 Rollout</a:t>
            </a:r>
          </a:p>
        </p:txBody>
      </p:sp>
      <p:pic>
        <p:nvPicPr>
          <p:cNvPr id="6" name="Picture 5" descr="v3_b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354580"/>
            <a:ext cx="4724399" cy="35433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24447" y="2354580"/>
            <a:ext cx="5181447" cy="35433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A1F36"/>
                </a:solidFill>
                <a:latin typeface="Pretendard"/>
              </a:defRPr>
            </a:pPr>
            <a:r>
              <a:t>LIFTING_LOOP_TRAP 해결 확인</a:t>
            </a:r>
            <a:br/>
            <a:r>
              <a:t>벽 근처(-7.5,-7.5) 탈출 불가</a:t>
            </a:r>
            <a:br/>
            <a:r>
              <a:t>WALL_STUCK: 학습 데이터에 없는 상태</a:t>
            </a:r>
            <a:br/>
            <a:r>
              <a:t>v5 wall patch 24ep 추가 시도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42900"/>
            <a:ext cx="108200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0">
                <a:solidFill>
                  <a:srgbClr val="111111"/>
                </a:solidFill>
                <a:latin typeface="Pretendard"/>
              </a:defRPr>
            </a:pPr>
            <a:r>
              <a:t>v1→v2→v3 순으로 모델이 점진적으로 개선되었지만, 최종 성공률 0%를 넘지 못한 채 시간이 종료되었습니다.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48740"/>
            <a:ext cx="10820095" cy="18288"/>
          </a:xfrm>
          <a:prstGeom prst="rect">
            <a:avLst/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31620"/>
            <a:ext cx="108200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5C6478"/>
                </a:solidFill>
                <a:latin typeface="Noto Serif KR"/>
              </a:defRPr>
            </a:pPr>
            <a:r>
              <a:t>Rollout Evolution — 버전별 변화</a:t>
            </a:r>
          </a:p>
        </p:txBody>
      </p:sp>
      <p:pic>
        <p:nvPicPr>
          <p:cNvPr id="6" name="Picture 5" descr="evolution_mi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354580"/>
            <a:ext cx="4724399" cy="35433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24447" y="2354580"/>
            <a:ext cx="5181447" cy="35433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A1F36"/>
                </a:solidFill>
                <a:latin typeface="Pretendard"/>
              </a:defRPr>
            </a:pPr>
            <a:r>
              <a:t>v1: 검증용 10ep → v2: expert-only 52ep</a:t>
            </a:r>
            <a:br/>
            <a:r>
              <a:t>v3: recovery 200ep → v5: wall patch 24ep</a:t>
            </a:r>
            <a:br/>
            <a:r>
              <a:t>총 286개 에피소드 생성 (목표 1,000의 28.6%)</a:t>
            </a:r>
            <a:br/>
            <a:r>
              <a:t>Wall FT 진행 중 시간 종료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606040"/>
            <a:ext cx="108200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5C6478"/>
                </a:solidFill>
                <a:latin typeface="Pretendard"/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086100"/>
            <a:ext cx="1082009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F8F9FC"/>
                </a:solidFill>
                <a:latin typeface="Noto Serif KR"/>
              </a:defRPr>
            </a:pPr>
            <a:r>
              <a:t>목표 vs 실제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42900"/>
            <a:ext cx="108200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0">
                <a:solidFill>
                  <a:srgbClr val="111111"/>
                </a:solidFill>
                <a:latin typeface="Pretendard"/>
              </a:defRPr>
            </a:pPr>
            <a:r>
              <a:t>10회 학습 루프 목표 대비 3회 완료, 1,000 에피소드 목표 대비 286개(28.6%) 생성에 그쳤습니다.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48740"/>
            <a:ext cx="10820095" cy="18288"/>
          </a:xfrm>
          <a:prstGeom prst="rect">
            <a:avLst/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31620"/>
            <a:ext cx="108200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5C6478"/>
                </a:solidFill>
                <a:latin typeface="Noto Serif KR"/>
              </a:defRPr>
            </a:pPr>
            <a:r>
              <a:t>핵심 KPI 달성률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720340"/>
            <a:ext cx="2430703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800" b="1">
                <a:solidFill>
                  <a:srgbClr val="111111"/>
                </a:solidFill>
                <a:latin typeface="Noto Serif KR"/>
              </a:defRPr>
            </a:pPr>
            <a:r>
              <a:t>3/10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909060"/>
            <a:ext cx="2430703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5C6478"/>
                </a:solidFill>
                <a:latin typeface="Pretendard"/>
              </a:defRPr>
            </a:pPr>
            <a:r>
              <a:t>루프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90823" y="2720340"/>
            <a:ext cx="2430703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800" b="1">
                <a:solidFill>
                  <a:srgbClr val="111111"/>
                </a:solidFill>
                <a:latin typeface="Noto Serif KR"/>
              </a:defRPr>
            </a:pPr>
            <a:r>
              <a:t>286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90823" y="3909060"/>
            <a:ext cx="2430703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5C6478"/>
                </a:solidFill>
                <a:latin typeface="Pretendard"/>
              </a:defRPr>
            </a:pPr>
            <a:r>
              <a:t>에피소드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5847" y="2720340"/>
            <a:ext cx="2430703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800" b="1">
                <a:solidFill>
                  <a:srgbClr val="111111"/>
                </a:solidFill>
                <a:latin typeface="Noto Serif KR"/>
              </a:defRPr>
            </a:pPr>
            <a:r>
              <a:t>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5847" y="3909060"/>
            <a:ext cx="2430703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5C6478"/>
                </a:solidFill>
                <a:latin typeface="Pretendard"/>
              </a:defRPr>
            </a:pPr>
            <a:r>
              <a:t>성공률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00871" y="2720340"/>
            <a:ext cx="2430703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800" b="1">
                <a:solidFill>
                  <a:srgbClr val="111111"/>
                </a:solidFill>
                <a:latin typeface="Noto Serif KR"/>
              </a:defRPr>
            </a:pPr>
            <a:r>
              <a:t>$70~120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00871" y="3909060"/>
            <a:ext cx="2430703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5C6478"/>
                </a:solidFill>
                <a:latin typeface="Pretendard"/>
              </a:defRPr>
            </a:pPr>
            <a:r>
              <a:t>총비용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42900"/>
            <a:ext cx="108200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0">
                <a:solidFill>
                  <a:srgbClr val="111111"/>
                </a:solidFill>
                <a:latin typeface="Pretendard"/>
              </a:defRPr>
            </a:pPr>
            <a:r>
              <a:t>사이클당 30~70분을 예상했지만 실제로는 3~5시간이 소요되어, 계획 대비 시간이 크게 부족했습니다.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48740"/>
            <a:ext cx="10820095" cy="18288"/>
          </a:xfrm>
          <a:prstGeom prst="rect">
            <a:avLst/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31620"/>
            <a:ext cx="108200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5C6478"/>
                </a:solidFill>
                <a:latin typeface="Noto Serif KR"/>
              </a:defRPr>
            </a:pPr>
            <a:r>
              <a:t>계획 vs 실제 타임라인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354580"/>
            <a:ext cx="5181447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1A1F36"/>
                </a:solidFill>
                <a:latin typeface="Noto Serif KR"/>
              </a:defRPr>
            </a:pPr>
            <a:r>
              <a:t>계획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903220"/>
            <a:ext cx="518144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A1F36"/>
                </a:solidFill>
                <a:latin typeface="Pretendard"/>
              </a:defRPr>
            </a:pPr>
            <a:r>
              <a:t>• 사이클당 30~70분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451860"/>
            <a:ext cx="518144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A1F36"/>
                </a:solidFill>
                <a:latin typeface="Pretendard"/>
              </a:defRPr>
            </a:pPr>
            <a:r>
              <a:t>• 10회 루프 완주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000500"/>
            <a:ext cx="518144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A1F36"/>
                </a:solidFill>
                <a:latin typeface="Pretendard"/>
              </a:defRPr>
            </a:pPr>
            <a:r>
              <a:t>• 1,000 에피소드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549140"/>
            <a:ext cx="518144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A1F36"/>
                </a:solidFill>
                <a:latin typeface="Pretendard"/>
              </a:defRPr>
            </a:pPr>
            <a:r>
              <a:t>• Phase별 순차 진행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097779"/>
            <a:ext cx="518144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A1F36"/>
                </a:solidFill>
                <a:latin typeface="Pretendard"/>
              </a:defRPr>
            </a:pPr>
            <a:r>
              <a:t>• VM 스케일링 활용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4447" y="2354580"/>
            <a:ext cx="5181447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1A1F36"/>
                </a:solidFill>
                <a:latin typeface="Noto Serif KR"/>
              </a:defRPr>
            </a:pPr>
            <a:r>
              <a:t>실제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447" y="2903220"/>
            <a:ext cx="518144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A1F36"/>
                </a:solidFill>
                <a:latin typeface="Pretendard"/>
              </a:defRPr>
            </a:pPr>
            <a:r>
              <a:t>• 사이클당 3~5시간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4447" y="3451860"/>
            <a:ext cx="518144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A1F36"/>
                </a:solidFill>
                <a:latin typeface="Pretendard"/>
              </a:defRPr>
            </a:pPr>
            <a:r>
              <a:t>• 3회 루프 + Wall 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4447" y="4000500"/>
            <a:ext cx="518144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A1F36"/>
                </a:solidFill>
                <a:latin typeface="Pretendard"/>
              </a:defRPr>
            </a:pPr>
            <a:r>
              <a:t>• 286 에피소드 (28.6%)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4447" y="4549140"/>
            <a:ext cx="518144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A1F36"/>
                </a:solidFill>
                <a:latin typeface="Pretendard"/>
              </a:defRPr>
            </a:pPr>
            <a:r>
              <a:t>• 학습 대기 5시간 공백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447" y="5097779"/>
            <a:ext cx="518144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A1F36"/>
                </a:solidFill>
                <a:latin typeface="Pretendard"/>
              </a:defRPr>
            </a:pPr>
            <a:r>
              <a:t>• VM 스케일링 0회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606040"/>
            <a:ext cx="108200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5C6478"/>
                </a:solidFill>
                <a:latin typeface="Pretendard"/>
              </a:defRPr>
            </a:pPr>
            <a:r>
              <a:t>BOTTLENECK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086100"/>
            <a:ext cx="1082009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F8F9FC"/>
                </a:solidFill>
                <a:latin typeface="Noto Serif KR"/>
              </a:defRPr>
            </a:pPr>
            <a:r>
              <a:t>3대 병목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42900"/>
            <a:ext cx="108200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0">
                <a:solidFill>
                  <a:srgbClr val="111111"/>
                </a:solidFill>
                <a:latin typeface="Pretendard"/>
              </a:defRPr>
            </a:pPr>
            <a:r>
              <a:t>에피소드 1개 생성에 4~8분이 걸려 1,000개 목표는 물리적으로 불가능했고, 병렬화를 하지 않은 것이 핵심 실수였습니다.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48740"/>
            <a:ext cx="10820095" cy="18288"/>
          </a:xfrm>
          <a:prstGeom prst="rect">
            <a:avLst/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31620"/>
            <a:ext cx="108200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5C6478"/>
                </a:solidFill>
                <a:latin typeface="Noto Serif KR"/>
              </a:defRPr>
            </a:pPr>
            <a:r>
              <a:t>병목 1: 에피소드 생성 속도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354580"/>
            <a:ext cx="5181447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1A1F36"/>
                </a:solidFill>
                <a:latin typeface="Noto Serif KR"/>
              </a:defRPr>
            </a:pPr>
            <a:r>
              <a:t>문제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903220"/>
            <a:ext cx="518144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A1F36"/>
                </a:solidFill>
                <a:latin typeface="Pretendard"/>
              </a:defRPr>
            </a:pPr>
            <a:r>
              <a:t>• 에피소드당 4~8분 소요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451860"/>
            <a:ext cx="518144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A1F36"/>
                </a:solidFill>
                <a:latin typeface="Pretendard"/>
              </a:defRPr>
            </a:pPr>
            <a:r>
              <a:t>• 1,000개 = 약 100시간 필요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000500"/>
            <a:ext cx="518144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A1F36"/>
                </a:solidFill>
                <a:latin typeface="Pretendard"/>
              </a:defRPr>
            </a:pPr>
            <a:r>
              <a:t>• 단일 스레드로만 생성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549140"/>
            <a:ext cx="518144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A1F36"/>
                </a:solidFill>
                <a:latin typeface="Pretendard"/>
              </a:defRPr>
            </a:pPr>
            <a:r>
              <a:t>• throughput 사전 측정 없음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447" y="2354580"/>
            <a:ext cx="5181447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1A1F36"/>
                </a:solidFill>
                <a:latin typeface="Noto Serif KR"/>
              </a:defRPr>
            </a:pPr>
            <a:r>
              <a:t>해결책 (사후)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4447" y="2903220"/>
            <a:ext cx="518144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A1F36"/>
                </a:solidFill>
                <a:latin typeface="Pretendard"/>
              </a:defRPr>
            </a:pPr>
            <a:r>
              <a:t>• multi-process headless 병렬화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447" y="3451860"/>
            <a:ext cx="518144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A1F36"/>
                </a:solidFill>
                <a:latin typeface="Pretendard"/>
              </a:defRPr>
            </a:pPr>
            <a:r>
              <a:t>• Developer VM 최대 3대 추가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4447" y="4000500"/>
            <a:ext cx="518144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A1F36"/>
                </a:solidFill>
                <a:latin typeface="Pretendard"/>
              </a:defRPr>
            </a:pPr>
            <a:r>
              <a:t>• 320x240/10Hz 해상도 축소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4447" y="4549140"/>
            <a:ext cx="518144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A1F36"/>
                </a:solidFill>
                <a:latin typeface="Pretendard"/>
              </a:defRPr>
            </a:pPr>
            <a:r>
              <a:t>• throughput 사전 벤치마크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42900"/>
            <a:ext cx="108200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0">
                <a:solidFill>
                  <a:srgbClr val="111111"/>
                </a:solidFill>
                <a:latin typeface="Pretendard"/>
              </a:defRPr>
            </a:pPr>
            <a:r>
              <a:t>오프라인 Loss 0.000080이었지만 실전 성공률은 0%로, 시험 만점이지만 실전에서 0점인 상황이었습니다.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48740"/>
            <a:ext cx="10820095" cy="18288"/>
          </a:xfrm>
          <a:prstGeom prst="rect">
            <a:avLst/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31620"/>
            <a:ext cx="108200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5C6478"/>
                </a:solidFill>
                <a:latin typeface="Noto Serif KR"/>
              </a:defRPr>
            </a:pPr>
            <a:r>
              <a:t>병목 2: Rollout Compounding Error</a:t>
            </a:r>
          </a:p>
        </p:txBody>
      </p:sp>
      <p:pic>
        <p:nvPicPr>
          <p:cNvPr id="6" name="Picture 5" descr="midstar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354580"/>
            <a:ext cx="4724399" cy="35433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24447" y="2354580"/>
            <a:ext cx="5181447" cy="35433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A1F36"/>
                </a:solidFill>
                <a:latin typeface="Pretendard"/>
              </a:defRPr>
            </a:pPr>
            <a:r>
              <a:t>Root Cause 1: ImageNet 정규화 불일치</a:t>
            </a:r>
            <a:br/>
            <a:r>
              <a:t>Root Cause 2: Expert-only covariate shift</a:t>
            </a:r>
            <a:br/>
            <a:r>
              <a:t>Root Cause 3: WALL_STUCK 미커버</a:t>
            </a:r>
            <a:br/>
            <a:r>
              <a:t>해결: DAgger + Perturbation Injection 필요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46520"/>
            <a:ext cx="108200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5C6478"/>
                </a:solidFill>
                <a:latin typeface="Pretendard"/>
              </a:defRPr>
            </a:pPr>
            <a:r>
              <a:t>* DAgger: Dataset Aggregation (반복적 데이터 수집)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42900"/>
            <a:ext cx="108200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0">
                <a:solidFill>
                  <a:srgbClr val="111111"/>
                </a:solidFill>
                <a:latin typeface="Pretendard"/>
              </a:defRPr>
            </a:pPr>
            <a:r>
              <a:t>첫 학습에 500 epoch을 투입하여 5시간 13분을 소비했고, 이 구간이 전체 해커톤의 가장 큰 낭비였습니다.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48740"/>
            <a:ext cx="10820095" cy="18288"/>
          </a:xfrm>
          <a:prstGeom prst="rect">
            <a:avLst/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31620"/>
            <a:ext cx="108200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5C6478"/>
                </a:solidFill>
                <a:latin typeface="Noto Serif KR"/>
              </a:defRPr>
            </a:pPr>
            <a:r>
              <a:t>병목 3: 학습 시간</a:t>
            </a:r>
          </a:p>
        </p:txBody>
      </p:sp>
      <p:sp>
        <p:nvSpPr>
          <p:cNvPr id="6" name="Rectangle 5"/>
          <p:cNvSpPr/>
          <p:nvPr/>
        </p:nvSpPr>
        <p:spPr>
          <a:xfrm>
            <a:off x="2057400" y="3543300"/>
            <a:ext cx="1470583" cy="2743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57400" y="3086100"/>
            <a:ext cx="147058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14B8A6"/>
                </a:solidFill>
                <a:latin typeface="Pretendard"/>
              </a:defRPr>
            </a:pPr>
            <a:r>
              <a:t>5.2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6377940"/>
            <a:ext cx="147058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1A1F36"/>
                </a:solidFill>
                <a:latin typeface="Pretendard"/>
              </a:defRPr>
            </a:pPr>
            <a:r>
              <a:t>v2 500ep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9503" y="5495192"/>
            <a:ext cx="1470583" cy="791307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59503" y="5037992"/>
            <a:ext cx="147058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1A1F36"/>
                </a:solidFill>
                <a:latin typeface="Pretendard"/>
              </a:defRPr>
            </a:pPr>
            <a:r>
              <a:t>1.5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9503" y="6377940"/>
            <a:ext cx="147058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5C6478"/>
                </a:solidFill>
                <a:latin typeface="Pretendard"/>
              </a:defRPr>
            </a:pPr>
            <a:r>
              <a:t>v3 100ep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61607" y="5890846"/>
            <a:ext cx="1470583" cy="395653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1607" y="5433646"/>
            <a:ext cx="147058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1A1F36"/>
                </a:solidFill>
                <a:latin typeface="Pretendard"/>
              </a:defRPr>
            </a:pPr>
            <a:r>
              <a:t>0.75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1607" y="6377940"/>
            <a:ext cx="147058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5C6478"/>
                </a:solidFill>
                <a:latin typeface="Pretendard"/>
              </a:defRPr>
            </a:pPr>
            <a:r>
              <a:t>v3 2nd 50ep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63711" y="5890846"/>
            <a:ext cx="1470583" cy="395653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63711" y="5433646"/>
            <a:ext cx="147058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1A1F36"/>
                </a:solidFill>
                <a:latin typeface="Pretendard"/>
              </a:defRPr>
            </a:pPr>
            <a:r>
              <a:t>0.75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63711" y="6377940"/>
            <a:ext cx="147058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5C6478"/>
                </a:solidFill>
                <a:latin typeface="Pretendard"/>
              </a:defRPr>
            </a:pPr>
            <a:r>
              <a:t>Wall 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77095" y="235458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5C6478"/>
                </a:solidFill>
                <a:latin typeface="Pretendard"/>
              </a:defRPr>
            </a:pPr>
            <a:r>
              <a:t>(단위: 시간)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446520"/>
            <a:ext cx="108200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5C6478"/>
                </a:solidFill>
                <a:latin typeface="Pretendard"/>
              </a:defRPr>
            </a:pPr>
            <a:r>
              <a:t>* epoch: AI가 전체 데이터를 한 바퀴 학습하는 단위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606040"/>
            <a:ext cx="108200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5C6478"/>
                </a:solidFill>
                <a:latin typeface="Pretendard"/>
              </a:defRPr>
            </a:pPr>
            <a:r>
              <a:t>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086100"/>
            <a:ext cx="1082009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F8F9FC"/>
                </a:solidFill>
                <a:latin typeface="Noto Serif KR"/>
              </a:defRPr>
            </a:pPr>
            <a:r>
              <a:t>성과 &amp; 교훈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42900"/>
            <a:ext cx="108200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0">
                <a:solidFill>
                  <a:srgbClr val="111111"/>
                </a:solidFill>
                <a:latin typeface="Pretendard"/>
              </a:defRPr>
            </a:pPr>
            <a:r>
              <a:t>자율 협업은 성공했지만, throughput 미측정과 병렬화 부재가 핵심 실패 원인이었습니다.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48740"/>
            <a:ext cx="10820095" cy="18288"/>
          </a:xfrm>
          <a:prstGeom prst="rect">
            <a:avLst/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31620"/>
            <a:ext cx="108200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5C6478"/>
                </a:solidFill>
                <a:latin typeface="Noto Serif KR"/>
              </a:defRPr>
            </a:pPr>
            <a:r>
              <a:t>잘된 점 vs 아쉬운 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354580"/>
            <a:ext cx="5181447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1A1F36"/>
                </a:solidFill>
                <a:latin typeface="Noto Serif KR"/>
              </a:defRPr>
            </a:pPr>
            <a:r>
              <a:t>잘된 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903220"/>
            <a:ext cx="518144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A1F36"/>
                </a:solidFill>
                <a:latin typeface="Pretendard"/>
              </a:defRPr>
            </a:pPr>
            <a:r>
              <a:t>• 5 에이전트 13시간+ 자율 협업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451860"/>
            <a:ext cx="518144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A1F36"/>
                </a:solidFill>
                <a:latin typeface="Pretendard"/>
              </a:defRPr>
            </a:pPr>
            <a:r>
              <a:t>• Watchdog 5분 내 감지/복구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000500"/>
            <a:ext cx="518144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A1F36"/>
                </a:solidFill>
                <a:latin typeface="Pretendard"/>
              </a:defRPr>
            </a:pPr>
            <a:r>
              <a:t>• ACT 오프라인 수렴 우수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549140"/>
            <a:ext cx="518144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A1F36"/>
                </a:solidFill>
                <a:latin typeface="Pretendard"/>
              </a:defRPr>
            </a:pPr>
            <a:r>
              <a:t>• 실패 원인 정확히 진단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097779"/>
            <a:ext cx="518144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A1F36"/>
                </a:solidFill>
                <a:latin typeface="Pretendard"/>
              </a:defRPr>
            </a:pPr>
            <a:r>
              <a:t>• 적응형 데이터 전략 설계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4447" y="2354580"/>
            <a:ext cx="5181447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1">
                <a:solidFill>
                  <a:srgbClr val="1A1F36"/>
                </a:solidFill>
                <a:latin typeface="Noto Serif KR"/>
              </a:defRPr>
            </a:pPr>
            <a:r>
              <a:t>아쉬운 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447" y="2903220"/>
            <a:ext cx="518144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A1F36"/>
                </a:solidFill>
                <a:latin typeface="Pretendard"/>
              </a:defRPr>
            </a:pPr>
            <a:r>
              <a:t>• throughput 사전 측정 없음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4447" y="3451860"/>
            <a:ext cx="518144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A1F36"/>
                </a:solidFill>
                <a:latin typeface="Pretendard"/>
              </a:defRPr>
            </a:pPr>
            <a:r>
              <a:t>• 에피소드 생성 병렬화 미실행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4447" y="4000500"/>
            <a:ext cx="518144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A1F36"/>
                </a:solidFill>
                <a:latin typeface="Pretendard"/>
              </a:defRPr>
            </a:pPr>
            <a:r>
              <a:t>• 첫 학습 500ep (계획: 10ep)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4447" y="4549140"/>
            <a:ext cx="518144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A1F36"/>
                </a:solidFill>
                <a:latin typeface="Pretendard"/>
              </a:defRPr>
            </a:pPr>
            <a:r>
              <a:t>• Rollout을 1루프부터 안 돌림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447" y="5097779"/>
            <a:ext cx="518144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1A1F36"/>
                </a:solidFill>
                <a:latin typeface="Pretendard"/>
              </a:defRPr>
            </a:pPr>
            <a:r>
              <a:t>• Recovery 데이터 초기 미포함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42900"/>
            <a:ext cx="108200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0">
                <a:solidFill>
                  <a:srgbClr val="111111"/>
                </a:solidFill>
                <a:latin typeface="Pretendard"/>
              </a:defRPr>
            </a:pPr>
            <a:r>
              <a:t>오프라인 메트릭이 좋아도 실전은 별개이며, 속도를 먼저 측정하고, 기다리는 시간을 낭비하지 말아야 합니다.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48740"/>
            <a:ext cx="10820095" cy="18288"/>
          </a:xfrm>
          <a:prstGeom prst="rect">
            <a:avLst/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31620"/>
            <a:ext cx="108200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5C6478"/>
                </a:solidFill>
                <a:latin typeface="Noto Serif KR"/>
              </a:defRPr>
            </a:pPr>
            <a:r>
              <a:t>핵심 교훈 3가지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354580"/>
            <a:ext cx="3423818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A1F36"/>
                </a:solidFill>
                <a:latin typeface="Noto Serif KR"/>
              </a:defRPr>
            </a:pPr>
            <a:r>
              <a:t>실전 우선 검증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903220"/>
            <a:ext cx="3423818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5C6478"/>
                </a:solidFill>
                <a:latin typeface="Pretendard"/>
              </a:defRPr>
            </a:pPr>
            <a:r>
              <a:t>오프라인 점수 ≠ 실전 성능</a:t>
            </a:r>
            <a:br/>
            <a:r>
              <a:t>Rollout을 1루프부터 실행</a:t>
            </a:r>
            <a:br/>
            <a:r>
              <a:t>빠른 실패가 긴 학습보다 낫다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3938" y="2354580"/>
            <a:ext cx="3423818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A1F36"/>
                </a:solidFill>
                <a:latin typeface="Noto Serif KR"/>
              </a:defRPr>
            </a:pPr>
            <a:r>
              <a:t>속도를 먼저 측정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3938" y="2903220"/>
            <a:ext cx="3423818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5C6478"/>
                </a:solidFill>
                <a:latin typeface="Pretendard"/>
              </a:defRPr>
            </a:pPr>
            <a:r>
              <a:t>throughput 벤치마크 선행</a:t>
            </a:r>
            <a:br/>
            <a:r>
              <a:t>현실적 목표 설정</a:t>
            </a:r>
            <a:br/>
            <a:r>
              <a:t>병렬화 전략 사전 수립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2076" y="2354580"/>
            <a:ext cx="3423818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1A1F36"/>
                </a:solidFill>
                <a:latin typeface="Noto Serif KR"/>
              </a:defRPr>
            </a:pPr>
            <a:r>
              <a:t>대기 시간 활용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82076" y="2903220"/>
            <a:ext cx="3423818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5C6478"/>
                </a:solidFill>
                <a:latin typeface="Pretendard"/>
              </a:defRPr>
            </a:pPr>
            <a:r>
              <a:t>학습-생성 파이프라인 병렬화</a:t>
            </a:r>
            <a:br/>
            <a:r>
              <a:t>다음 루프 데이터 미리 준비</a:t>
            </a:r>
            <a:br/>
            <a:r>
              <a:t>5시간 공백을 0으로 줄이기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42900"/>
            <a:ext cx="108200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0">
                <a:solidFill>
                  <a:srgbClr val="111111"/>
                </a:solidFill>
                <a:latin typeface="Pretendard"/>
              </a:defRPr>
            </a:pPr>
            <a:r>
              <a:t>총 $70~120 중 AI API 호출 비용이 서버 비용의 2.5~5배로 가장 큰 비중을 차지했습니다.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48740"/>
            <a:ext cx="10820095" cy="18288"/>
          </a:xfrm>
          <a:prstGeom prst="rect">
            <a:avLst/>
          </a:prstGeom>
          <a:solidFill>
            <a:srgbClr val="EE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31620"/>
            <a:ext cx="108200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5C6478"/>
                </a:solidFill>
                <a:latin typeface="Noto Serif KR"/>
              </a:defRPr>
            </a:pPr>
            <a:r>
              <a:t>비용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720340"/>
            <a:ext cx="2430703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800" b="1">
                <a:solidFill>
                  <a:srgbClr val="111111"/>
                </a:solidFill>
                <a:latin typeface="Noto Serif KR"/>
              </a:defRPr>
            </a:pPr>
            <a:r>
              <a:t>$20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909060"/>
            <a:ext cx="2430703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5C6478"/>
                </a:solidFill>
                <a:latin typeface="Pretendard"/>
              </a:defRPr>
            </a:pPr>
            <a:r>
              <a:t>VM 5대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90823" y="2720340"/>
            <a:ext cx="2430703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800" b="1">
                <a:solidFill>
                  <a:srgbClr val="111111"/>
                </a:solidFill>
                <a:latin typeface="Noto Serif KR"/>
              </a:defRPr>
            </a:pPr>
            <a:r>
              <a:t>$50~100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90823" y="3909060"/>
            <a:ext cx="2430703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5C6478"/>
                </a:solidFill>
                <a:latin typeface="Pretendard"/>
              </a:defRPr>
            </a:pPr>
            <a:r>
              <a:t>AI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5847" y="2720340"/>
            <a:ext cx="2430703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800" b="1">
                <a:solidFill>
                  <a:srgbClr val="111111"/>
                </a:solidFill>
                <a:latin typeface="Noto Serif KR"/>
              </a:defRPr>
            </a:pPr>
            <a:r>
              <a:t>8.5%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5847" y="3909060"/>
            <a:ext cx="2430703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5C6478"/>
                </a:solidFill>
                <a:latin typeface="Pretendard"/>
              </a:defRPr>
            </a:pPr>
            <a:r>
              <a:t>GPU 사용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00871" y="2720340"/>
            <a:ext cx="2430703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800" b="1">
                <a:solidFill>
                  <a:srgbClr val="111111"/>
                </a:solidFill>
                <a:latin typeface="Noto Serif KR"/>
              </a:defRPr>
            </a:pPr>
            <a:r>
              <a:t>200+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00871" y="3909060"/>
            <a:ext cx="2430703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5C6478"/>
                </a:solidFill>
                <a:latin typeface="Pretendard"/>
              </a:defRPr>
            </a:pPr>
            <a:r>
              <a:t>메시지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46520"/>
            <a:ext cx="108200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5C6478"/>
                </a:solidFill>
                <a:latin typeface="Pretendard"/>
              </a:defRPr>
            </a:pPr>
            <a:r>
              <a:t>* A100 40GB 중 3.4GB만 사용 (T4/L4로 충분했을 가능성)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606040"/>
            <a:ext cx="1082009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400" b="1">
                <a:solidFill>
                  <a:srgbClr val="1A1F36"/>
                </a:solidFill>
                <a:latin typeface="Noto Serif KR"/>
              </a:defRPr>
            </a:pPr>
            <a:r>
              <a:t>실전으로 검증하고, 속도를 측정하고,</a:t>
            </a:r>
            <a:br/>
            <a:r>
              <a:t>기다리지 말고 병렬로 움직여라.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977639"/>
            <a:ext cx="108200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5C6478"/>
                </a:solidFill>
                <a:latin typeface="Pretendard"/>
              </a:defRPr>
            </a:pPr>
            <a:r>
              <a:t>Ralphton — WoRV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